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6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5556909-7271-4B40-93A6-8C8A93C5E803}">
          <p14:sldIdLst>
            <p14:sldId id="256"/>
            <p14:sldId id="257"/>
            <p14:sldId id="258"/>
            <p14:sldId id="259"/>
            <p14:sldId id="261"/>
            <p14:sldId id="262"/>
            <p14:sldId id="266"/>
            <p14:sldId id="263"/>
            <p14:sldId id="264"/>
            <p14:sldId id="265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7" d="100"/>
          <a:sy n="67" d="100"/>
        </p:scale>
        <p:origin x="-1128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855C6-E8D6-4D7C-97A2-C3DDCD478868}" type="datetimeFigureOut">
              <a:rPr lang="en-US" smtClean="0"/>
              <a:t>11/27/2012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F2F8A-7A10-4E85-875B-959728E117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3920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855C6-E8D6-4D7C-97A2-C3DDCD478868}" type="datetimeFigureOut">
              <a:rPr lang="en-US" smtClean="0"/>
              <a:t>11/27/2012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F2F8A-7A10-4E85-875B-959728E117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3588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855C6-E8D6-4D7C-97A2-C3DDCD478868}" type="datetimeFigureOut">
              <a:rPr lang="en-US" smtClean="0"/>
              <a:t>11/27/2012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F2F8A-7A10-4E85-875B-959728E117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8474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855C6-E8D6-4D7C-97A2-C3DDCD478868}" type="datetimeFigureOut">
              <a:rPr lang="en-US" smtClean="0"/>
              <a:t>11/27/2012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F2F8A-7A10-4E85-875B-959728E117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5537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855C6-E8D6-4D7C-97A2-C3DDCD478868}" type="datetimeFigureOut">
              <a:rPr lang="en-US" smtClean="0"/>
              <a:t>11/27/2012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F2F8A-7A10-4E85-875B-959728E117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098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855C6-E8D6-4D7C-97A2-C3DDCD478868}" type="datetimeFigureOut">
              <a:rPr lang="en-US" smtClean="0"/>
              <a:t>11/27/2012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F2F8A-7A10-4E85-875B-959728E117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5783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855C6-E8D6-4D7C-97A2-C3DDCD478868}" type="datetimeFigureOut">
              <a:rPr lang="en-US" smtClean="0"/>
              <a:t>11/27/2012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F2F8A-7A10-4E85-875B-959728E117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4406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855C6-E8D6-4D7C-97A2-C3DDCD478868}" type="datetimeFigureOut">
              <a:rPr lang="en-US" smtClean="0"/>
              <a:t>11/27/2012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F2F8A-7A10-4E85-875B-959728E117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1810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855C6-E8D6-4D7C-97A2-C3DDCD478868}" type="datetimeFigureOut">
              <a:rPr lang="en-US" smtClean="0"/>
              <a:t>11/27/2012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F2F8A-7A10-4E85-875B-959728E117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3740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855C6-E8D6-4D7C-97A2-C3DDCD478868}" type="datetimeFigureOut">
              <a:rPr lang="en-US" smtClean="0"/>
              <a:t>11/27/2012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F2F8A-7A10-4E85-875B-959728E117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7218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855C6-E8D6-4D7C-97A2-C3DDCD478868}" type="datetimeFigureOut">
              <a:rPr lang="en-US" smtClean="0"/>
              <a:t>11/27/2012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F2F8A-7A10-4E85-875B-959728E117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4006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0855C6-E8D6-4D7C-97A2-C3DDCD478868}" type="datetimeFigureOut">
              <a:rPr lang="en-US" smtClean="0"/>
              <a:t>11/27/2012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1F2F8A-7A10-4E85-875B-959728E117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7443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The </a:t>
            </a:r>
            <a:r>
              <a:rPr lang="en-US" dirty="0" err="1" smtClean="0"/>
              <a:t>compareTo</a:t>
            </a:r>
            <a:r>
              <a:rPr lang="en-US" dirty="0" smtClean="0"/>
              <a:t> method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4194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609600"/>
            <a:ext cx="7924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The equals method is a common way to  compare two objects.  </a:t>
            </a:r>
            <a:endParaRPr lang="en-US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90600" y="1828800"/>
            <a:ext cx="70104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Courier New" pitchFamily="49" charset="0"/>
                <a:cs typeface="Courier New" pitchFamily="49" charset="0"/>
              </a:rPr>
              <a:t>String str1 = “Hello”;</a:t>
            </a:r>
          </a:p>
          <a:p>
            <a:r>
              <a:rPr lang="en-US" dirty="0" smtClean="0">
                <a:latin typeface="Courier New" pitchFamily="49" charset="0"/>
                <a:cs typeface="Courier New" pitchFamily="49" charset="0"/>
              </a:rPr>
              <a:t>String str2 = “World”;</a:t>
            </a:r>
          </a:p>
          <a:p>
            <a:endParaRPr lang="en-US" dirty="0">
              <a:latin typeface="Courier New" pitchFamily="49" charset="0"/>
              <a:cs typeface="Courier New" pitchFamily="49" charset="0"/>
            </a:endParaRPr>
          </a:p>
          <a:p>
            <a:r>
              <a:rPr lang="en-US" dirty="0" smtClean="0">
                <a:latin typeface="Courier New" pitchFamily="49" charset="0"/>
                <a:cs typeface="Courier New" pitchFamily="49" charset="0"/>
              </a:rPr>
              <a:t>if( str1.equals(str2) )</a:t>
            </a:r>
          </a:p>
          <a:p>
            <a:r>
              <a:rPr lang="en-US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r>
              <a:rPr lang="en-US" dirty="0" smtClean="0">
                <a:latin typeface="Courier New" pitchFamily="49" charset="0"/>
                <a:cs typeface="Courier New" pitchFamily="49" charset="0"/>
              </a:rPr>
              <a:t>…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09600" y="4045527"/>
            <a:ext cx="7924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It works nicely as a </a:t>
            </a:r>
            <a:r>
              <a:rPr lang="en-US" dirty="0" err="1" smtClean="0"/>
              <a:t>boolean</a:t>
            </a:r>
            <a:r>
              <a:rPr lang="en-US" dirty="0" smtClean="0"/>
              <a:t> method because there are only two options.  Either the two Strings are equal or they are not.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68159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66800" y="685800"/>
            <a:ext cx="7010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851500" y="1600200"/>
            <a:ext cx="687933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Courier New" pitchFamily="49" charset="0"/>
                <a:cs typeface="Courier New" pitchFamily="49" charset="0"/>
              </a:rPr>
              <a:t>public class Card</a:t>
            </a:r>
          </a:p>
          <a:p>
            <a:r>
              <a:rPr lang="en-US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r>
              <a:rPr lang="en-US" dirty="0" smtClean="0">
                <a:latin typeface="Courier New" pitchFamily="49" charset="0"/>
                <a:cs typeface="Courier New" pitchFamily="49" charset="0"/>
              </a:rPr>
              <a:t>   private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String value;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   private String suit;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 </a:t>
            </a:r>
          </a:p>
          <a:p>
            <a:r>
              <a:rPr lang="en-US" dirty="0" smtClean="0">
                <a:latin typeface="Courier New" pitchFamily="49" charset="0"/>
                <a:cs typeface="Courier New" pitchFamily="49" charset="0"/>
              </a:rPr>
              <a:t>   public Card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(){…} </a:t>
            </a:r>
            <a:br>
              <a:rPr lang="en-US" dirty="0">
                <a:latin typeface="Courier New" pitchFamily="49" charset="0"/>
                <a:cs typeface="Courier New" pitchFamily="49" charset="0"/>
              </a:rPr>
            </a:br>
            <a:r>
              <a:rPr lang="en-US" dirty="0">
                <a:latin typeface="Courier New" pitchFamily="49" charset="0"/>
                <a:cs typeface="Courier New" pitchFamily="49" charset="0"/>
              </a:rPr>
              <a:t>   public String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getValue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(){…} </a:t>
            </a:r>
            <a:br>
              <a:rPr lang="en-US" dirty="0">
                <a:latin typeface="Courier New" pitchFamily="49" charset="0"/>
                <a:cs typeface="Courier New" pitchFamily="49" charset="0"/>
              </a:rPr>
            </a:br>
            <a:r>
              <a:rPr lang="en-US" dirty="0">
                <a:latin typeface="Courier New" pitchFamily="49" charset="0"/>
                <a:cs typeface="Courier New" pitchFamily="49" charset="0"/>
              </a:rPr>
              <a:t>   public String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getSuit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(){…} </a:t>
            </a:r>
            <a:br>
              <a:rPr lang="en-US" dirty="0">
                <a:latin typeface="Courier New" pitchFamily="49" charset="0"/>
                <a:cs typeface="Courier New" pitchFamily="49" charset="0"/>
              </a:rPr>
            </a:br>
            <a:r>
              <a:rPr lang="en-US" dirty="0">
                <a:latin typeface="Courier New" pitchFamily="49" charset="0"/>
                <a:cs typeface="Courier New" pitchFamily="49" charset="0"/>
              </a:rPr>
              <a:t>   public String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toString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(){…}</a:t>
            </a:r>
          </a:p>
          <a:p>
            <a:endParaRPr lang="en-US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en-US" dirty="0" smtClean="0"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public </a:t>
            </a:r>
            <a:r>
              <a:rPr lang="en-US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boolean</a:t>
            </a:r>
            <a:r>
              <a:rPr lang="en-US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isHigherRank</a:t>
            </a:r>
            <a:r>
              <a:rPr lang="en-US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(Card </a:t>
            </a:r>
            <a:r>
              <a:rPr lang="en-US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otherCard</a:t>
            </a:r>
            <a:r>
              <a:rPr lang="en-US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){}</a:t>
            </a:r>
          </a:p>
          <a:p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 public </a:t>
            </a:r>
            <a:r>
              <a:rPr lang="en-US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boolean</a:t>
            </a:r>
            <a:r>
              <a:rPr lang="en-US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isLowerRank</a:t>
            </a:r>
            <a:r>
              <a:rPr lang="en-US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(Card </a:t>
            </a:r>
            <a:r>
              <a:rPr lang="en-US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otherCard</a:t>
            </a:r>
            <a:r>
              <a:rPr lang="en-US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){}</a:t>
            </a:r>
          </a:p>
          <a:p>
            <a:r>
              <a:rPr lang="en-US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  public </a:t>
            </a:r>
            <a:r>
              <a:rPr lang="en-US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boolean</a:t>
            </a:r>
            <a:r>
              <a:rPr lang="en-US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isEqualRank</a:t>
            </a:r>
            <a:r>
              <a:rPr lang="en-US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(Card </a:t>
            </a:r>
            <a:r>
              <a:rPr lang="en-US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otherCard</a:t>
            </a:r>
            <a:r>
              <a:rPr lang="en-US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){}</a:t>
            </a:r>
          </a:p>
          <a:p>
            <a:r>
              <a:rPr lang="en-US" dirty="0" smtClean="0">
                <a:latin typeface="Courier New" pitchFamily="49" charset="0"/>
                <a:cs typeface="Courier New" pitchFamily="49" charset="0"/>
              </a:rPr>
              <a:t>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1500" y="516523"/>
            <a:ext cx="73781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Sometimes you want to know which objects are ‘higher’ and which are ‘lower’, meaning different types of methods are needed.</a:t>
            </a:r>
            <a:endParaRPr lang="en-US" sz="2000" dirty="0"/>
          </a:p>
        </p:txBody>
      </p:sp>
      <p:sp>
        <p:nvSpPr>
          <p:cNvPr id="5" name="TextBox 4"/>
          <p:cNvSpPr txBox="1"/>
          <p:nvPr/>
        </p:nvSpPr>
        <p:spPr>
          <a:xfrm>
            <a:off x="1066800" y="5867400"/>
            <a:ext cx="678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But this is a lot of methods to call for essentially the same purpose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2014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1066800"/>
            <a:ext cx="784860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When putting objects in order, there are three possibilities:</a:t>
            </a:r>
          </a:p>
          <a:p>
            <a:endParaRPr lang="en-US" sz="2400" dirty="0" smtClean="0"/>
          </a:p>
          <a:p>
            <a:r>
              <a:rPr lang="en-US" sz="2400" dirty="0" smtClean="0"/>
              <a:t>1) Higher</a:t>
            </a:r>
            <a:br>
              <a:rPr lang="en-US" sz="2400" dirty="0" smtClean="0"/>
            </a:br>
            <a:r>
              <a:rPr lang="en-US" sz="2400" dirty="0" smtClean="0"/>
              <a:t>2) Lower</a:t>
            </a:r>
            <a:br>
              <a:rPr lang="en-US" sz="2400" dirty="0" smtClean="0"/>
            </a:br>
            <a:r>
              <a:rPr lang="en-US" sz="2400" dirty="0" smtClean="0"/>
              <a:t>3) Equal</a:t>
            </a:r>
          </a:p>
          <a:p>
            <a:endParaRPr lang="en-US" sz="2400" dirty="0" smtClean="0"/>
          </a:p>
          <a:p>
            <a:r>
              <a:rPr lang="en-US" sz="2400" dirty="0" smtClean="0"/>
              <a:t>It is impossible to have a single </a:t>
            </a:r>
            <a:r>
              <a:rPr lang="en-US" sz="2400" dirty="0" err="1" smtClean="0"/>
              <a:t>boolean</a:t>
            </a:r>
            <a:r>
              <a:rPr lang="en-US" sz="2400" dirty="0" smtClean="0"/>
              <a:t> method that will cover all </a:t>
            </a:r>
            <a:r>
              <a:rPr lang="en-US" sz="2400" i="1" dirty="0" smtClean="0"/>
              <a:t>three</a:t>
            </a:r>
            <a:r>
              <a:rPr lang="en-US" sz="2400" dirty="0" smtClean="0"/>
              <a:t> of these possibilities, because </a:t>
            </a:r>
            <a:r>
              <a:rPr lang="en-US" sz="2400" dirty="0" err="1" smtClean="0"/>
              <a:t>booleans</a:t>
            </a:r>
            <a:r>
              <a:rPr lang="en-US" sz="2400" dirty="0" smtClean="0"/>
              <a:t> only have </a:t>
            </a:r>
            <a:r>
              <a:rPr lang="en-US" sz="2400" i="1" dirty="0" smtClean="0"/>
              <a:t>two</a:t>
            </a:r>
            <a:r>
              <a:rPr lang="en-US" sz="2400" dirty="0" smtClean="0"/>
              <a:t> possible outcomes.</a:t>
            </a:r>
          </a:p>
          <a:p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5939464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2812"/>
            <a:ext cx="8229600" cy="1143000"/>
          </a:xfrm>
        </p:spPr>
        <p:txBody>
          <a:bodyPr/>
          <a:lstStyle/>
          <a:p>
            <a:r>
              <a:rPr lang="en-US" dirty="0" smtClean="0"/>
              <a:t>The </a:t>
            </a:r>
            <a:r>
              <a:rPr lang="en-US" dirty="0" err="1" smtClean="0"/>
              <a:t>compareTo</a:t>
            </a:r>
            <a:r>
              <a:rPr lang="en-US" dirty="0" smtClean="0"/>
              <a:t> method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914400" y="1932152"/>
            <a:ext cx="73152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The </a:t>
            </a:r>
            <a:r>
              <a:rPr lang="en-US" dirty="0" err="1" smtClean="0"/>
              <a:t>compareTo</a:t>
            </a:r>
            <a:r>
              <a:rPr lang="en-US" dirty="0" smtClean="0"/>
              <a:t> method is a commonly used method that will return an </a:t>
            </a:r>
            <a:r>
              <a:rPr lang="en-US" b="1" dirty="0" err="1" smtClean="0"/>
              <a:t>int</a:t>
            </a:r>
            <a:r>
              <a:rPr lang="en-US" dirty="0" smtClean="0"/>
              <a:t> to signal how the object compares to its parameter.</a:t>
            </a:r>
          </a:p>
          <a:p>
            <a:endParaRPr lang="en-US" dirty="0"/>
          </a:p>
          <a:p>
            <a:r>
              <a:rPr lang="en-US" dirty="0" smtClean="0"/>
              <a:t>Let’s say you have two objects, </a:t>
            </a:r>
            <a:r>
              <a:rPr lang="en-US" b="1" dirty="0" err="1" smtClean="0"/>
              <a:t>objA</a:t>
            </a:r>
            <a:r>
              <a:rPr lang="en-US" dirty="0" smtClean="0"/>
              <a:t> and </a:t>
            </a:r>
            <a:r>
              <a:rPr lang="en-US" b="1" dirty="0" err="1" smtClean="0"/>
              <a:t>objB</a:t>
            </a:r>
            <a:r>
              <a:rPr lang="en-US" dirty="0" smtClean="0"/>
              <a:t> that have a </a:t>
            </a:r>
            <a:r>
              <a:rPr lang="en-US" dirty="0" err="1" smtClean="0"/>
              <a:t>compareTo</a:t>
            </a:r>
            <a:r>
              <a:rPr lang="en-US" dirty="0" smtClean="0"/>
              <a:t> method and the following method call is made: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52700" y="3685820"/>
            <a:ext cx="4038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objA.compareTo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objB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)</a:t>
            </a:r>
            <a:endParaRPr lang="en-US" sz="20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38200" y="4362271"/>
            <a:ext cx="76200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An </a:t>
            </a:r>
            <a:r>
              <a:rPr lang="en-US" dirty="0" err="1" smtClean="0"/>
              <a:t>int</a:t>
            </a:r>
            <a:r>
              <a:rPr lang="en-US" dirty="0" smtClean="0"/>
              <a:t> will be returned according to the following rules: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 smtClean="0"/>
              <a:t>If the referenced object is ‘less than’ the parameter, a </a:t>
            </a:r>
            <a:r>
              <a:rPr lang="en-US" b="1" dirty="0" smtClean="0"/>
              <a:t>negative</a:t>
            </a:r>
            <a:r>
              <a:rPr lang="en-US" dirty="0" smtClean="0"/>
              <a:t> number is returned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 smtClean="0"/>
              <a:t>If the referenced object is ‘equal to’ the parameter, a </a:t>
            </a:r>
            <a:r>
              <a:rPr lang="en-US" b="1" dirty="0" smtClean="0"/>
              <a:t>zero</a:t>
            </a:r>
            <a:r>
              <a:rPr lang="en-US" dirty="0" smtClean="0"/>
              <a:t> is returned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 smtClean="0"/>
              <a:t>If the referenced object is ‘greater than’ the parameter, a </a:t>
            </a:r>
            <a:r>
              <a:rPr lang="en-US" b="1" dirty="0" smtClean="0"/>
              <a:t>positive</a:t>
            </a:r>
            <a:r>
              <a:rPr lang="en-US" dirty="0" smtClean="0"/>
              <a:t> number is returned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67847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4800" y="152400"/>
            <a:ext cx="6879336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Courier New" pitchFamily="49" charset="0"/>
                <a:cs typeface="Courier New" pitchFamily="49" charset="0"/>
              </a:rPr>
              <a:t>public class Card</a:t>
            </a:r>
          </a:p>
          <a:p>
            <a:r>
              <a:rPr lang="en-US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r>
              <a:rPr lang="en-US" dirty="0" smtClean="0">
                <a:latin typeface="Courier New" pitchFamily="49" charset="0"/>
                <a:cs typeface="Courier New" pitchFamily="49" charset="0"/>
              </a:rPr>
              <a:t>   private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String value;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   private String suit;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 </a:t>
            </a:r>
          </a:p>
          <a:p>
            <a:r>
              <a:rPr lang="en-US" dirty="0" smtClean="0">
                <a:latin typeface="Courier New" pitchFamily="49" charset="0"/>
                <a:cs typeface="Courier New" pitchFamily="49" charset="0"/>
              </a:rPr>
              <a:t>   public Card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(){…} </a:t>
            </a:r>
            <a:br>
              <a:rPr lang="en-US" dirty="0">
                <a:latin typeface="Courier New" pitchFamily="49" charset="0"/>
                <a:cs typeface="Courier New" pitchFamily="49" charset="0"/>
              </a:rPr>
            </a:br>
            <a:r>
              <a:rPr lang="en-US" dirty="0">
                <a:latin typeface="Courier New" pitchFamily="49" charset="0"/>
                <a:cs typeface="Courier New" pitchFamily="49" charset="0"/>
              </a:rPr>
              <a:t>   public String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getValue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(){…} </a:t>
            </a:r>
            <a:br>
              <a:rPr lang="en-US" dirty="0">
                <a:latin typeface="Courier New" pitchFamily="49" charset="0"/>
                <a:cs typeface="Courier New" pitchFamily="49" charset="0"/>
              </a:rPr>
            </a:br>
            <a:r>
              <a:rPr lang="en-US" dirty="0">
                <a:latin typeface="Courier New" pitchFamily="49" charset="0"/>
                <a:cs typeface="Courier New" pitchFamily="49" charset="0"/>
              </a:rPr>
              <a:t>   public String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getSuit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(){…} </a:t>
            </a:r>
            <a:br>
              <a:rPr lang="en-US" dirty="0">
                <a:latin typeface="Courier New" pitchFamily="49" charset="0"/>
                <a:cs typeface="Courier New" pitchFamily="49" charset="0"/>
              </a:rPr>
            </a:br>
            <a:r>
              <a:rPr lang="en-US" dirty="0">
                <a:latin typeface="Courier New" pitchFamily="49" charset="0"/>
                <a:cs typeface="Courier New" pitchFamily="49" charset="0"/>
              </a:rPr>
              <a:t>   public String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toString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(){…}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  public 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getCardRank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(){…}</a:t>
            </a:r>
          </a:p>
          <a:p>
            <a:endParaRPr lang="en-US" dirty="0">
              <a:latin typeface="Courier New" pitchFamily="49" charset="0"/>
              <a:cs typeface="Courier New" pitchFamily="49" charset="0"/>
            </a:endParaRPr>
          </a:p>
          <a:p>
            <a:r>
              <a:rPr lang="en-US" dirty="0" smtClean="0">
                <a:latin typeface="Courier New" pitchFamily="49" charset="0"/>
                <a:cs typeface="Courier New" pitchFamily="49" charset="0"/>
              </a:rPr>
              <a:t>   public 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compareTo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(Card other)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  {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     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myRank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= 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this.getCardRank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     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otherRank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= 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other.getCardRank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endParaRPr lang="en-US" dirty="0">
              <a:latin typeface="Courier New" pitchFamily="49" charset="0"/>
              <a:cs typeface="Courier New" pitchFamily="49" charset="0"/>
            </a:endParaRPr>
          </a:p>
          <a:p>
            <a:r>
              <a:rPr lang="en-US" dirty="0" smtClean="0">
                <a:latin typeface="Courier New" pitchFamily="49" charset="0"/>
                <a:cs typeface="Courier New" pitchFamily="49" charset="0"/>
              </a:rPr>
              <a:t>      if( 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myRank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 &gt; 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otherRank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 )</a:t>
            </a:r>
            <a:br>
              <a:rPr lang="en-US" dirty="0" smtClean="0">
                <a:latin typeface="Courier New" pitchFamily="49" charset="0"/>
                <a:cs typeface="Courier New" pitchFamily="49" charset="0"/>
              </a:rPr>
            </a:br>
            <a:r>
              <a:rPr lang="en-US" dirty="0" smtClean="0">
                <a:latin typeface="Courier New" pitchFamily="49" charset="0"/>
                <a:cs typeface="Courier New" pitchFamily="49" charset="0"/>
              </a:rPr>
              <a:t>         return 1;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     else if( 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myRank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 &lt; 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otherRank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 )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        return -1;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     else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        return 0;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  }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}</a:t>
            </a:r>
            <a:endParaRPr lang="en-US" dirty="0" smtClean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858000" y="4800600"/>
            <a:ext cx="2057400" cy="175432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The choice of 1 and -1 is arbitrary.  As long as they are positive/negative the method still works properly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051603" y="533399"/>
            <a:ext cx="2863797" cy="120032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 smtClean="0"/>
              <a:t>compareTo’s</a:t>
            </a:r>
            <a:r>
              <a:rPr lang="en-US" dirty="0" smtClean="0"/>
              <a:t> rules:</a:t>
            </a:r>
          </a:p>
          <a:p>
            <a:r>
              <a:rPr lang="en-US" dirty="0" smtClean="0"/>
              <a:t>this &lt; parameter </a:t>
            </a:r>
            <a:r>
              <a:rPr lang="en-US" dirty="0" smtClean="0">
                <a:sym typeface="Wingdings" pitchFamily="2" charset="2"/>
              </a:rPr>
              <a:t> negative</a:t>
            </a:r>
          </a:p>
          <a:p>
            <a:r>
              <a:rPr lang="en-US" dirty="0" smtClean="0"/>
              <a:t>this &gt; parameter </a:t>
            </a:r>
            <a:r>
              <a:rPr lang="en-US" dirty="0" smtClean="0">
                <a:sym typeface="Wingdings" pitchFamily="2" charset="2"/>
              </a:rPr>
              <a:t> positive</a:t>
            </a:r>
          </a:p>
          <a:p>
            <a:r>
              <a:rPr lang="en-US" dirty="0" smtClean="0"/>
              <a:t>this == parameter </a:t>
            </a:r>
            <a:r>
              <a:rPr lang="en-US" dirty="0" smtClean="0">
                <a:sym typeface="Wingdings" pitchFamily="2" charset="2"/>
              </a:rPr>
              <a:t> 0</a:t>
            </a:r>
          </a:p>
        </p:txBody>
      </p:sp>
    </p:spTree>
    <p:extLst>
      <p:ext uri="{BB962C8B-B14F-4D97-AF65-F5344CB8AC3E}">
        <p14:creationId xmlns:p14="http://schemas.microsoft.com/office/powerpoint/2010/main" val="37574551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Alternative </a:t>
            </a:r>
            <a:r>
              <a:rPr lang="en-US" dirty="0" err="1" smtClean="0"/>
              <a:t>compareTo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990600" y="2477631"/>
            <a:ext cx="716280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public 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compareTo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(Card other)</a:t>
            </a:r>
          </a:p>
          <a:p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myRank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= 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this.getCardRank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otherRank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= 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other.getCardRank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endParaRPr lang="en-US" sz="2000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  return 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myRank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– 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otherRank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}</a:t>
            </a:r>
            <a:endParaRPr lang="en-US" sz="2000" dirty="0"/>
          </a:p>
        </p:txBody>
      </p:sp>
      <p:sp>
        <p:nvSpPr>
          <p:cNvPr id="4" name="TextBox 3"/>
          <p:cNvSpPr txBox="1"/>
          <p:nvPr/>
        </p:nvSpPr>
        <p:spPr>
          <a:xfrm>
            <a:off x="5024734" y="5105400"/>
            <a:ext cx="3163302" cy="132343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 err="1" smtClean="0"/>
              <a:t>compareTo’s</a:t>
            </a:r>
            <a:r>
              <a:rPr lang="en-US" sz="2000" dirty="0" smtClean="0"/>
              <a:t> rules:</a:t>
            </a:r>
          </a:p>
          <a:p>
            <a:r>
              <a:rPr lang="en-US" sz="2000" dirty="0" smtClean="0"/>
              <a:t>this &lt; parameter </a:t>
            </a:r>
            <a:r>
              <a:rPr lang="en-US" sz="2000" dirty="0" smtClean="0">
                <a:sym typeface="Wingdings" pitchFamily="2" charset="2"/>
              </a:rPr>
              <a:t> negative</a:t>
            </a:r>
          </a:p>
          <a:p>
            <a:r>
              <a:rPr lang="en-US" sz="2000" dirty="0" smtClean="0"/>
              <a:t>this &gt; parameter </a:t>
            </a:r>
            <a:r>
              <a:rPr lang="en-US" sz="2000" dirty="0" smtClean="0">
                <a:sym typeface="Wingdings" pitchFamily="2" charset="2"/>
              </a:rPr>
              <a:t> positive</a:t>
            </a:r>
          </a:p>
          <a:p>
            <a:r>
              <a:rPr lang="en-US" sz="2000" dirty="0" smtClean="0"/>
              <a:t>this == parameter </a:t>
            </a:r>
            <a:r>
              <a:rPr lang="en-US" sz="2000" dirty="0" smtClean="0">
                <a:sym typeface="Wingdings" pitchFamily="2" charset="2"/>
              </a:rPr>
              <a:t>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789" y="1702713"/>
            <a:ext cx="788607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 smtClean="0"/>
              <a:t>Sometimes a little math trickery makes a </a:t>
            </a:r>
            <a:r>
              <a:rPr lang="en-US" sz="2200" dirty="0" err="1" smtClean="0"/>
              <a:t>compareTo</a:t>
            </a:r>
            <a:r>
              <a:rPr lang="en-US" sz="2200" dirty="0" smtClean="0"/>
              <a:t> easier to write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0075731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114425" y="858982"/>
            <a:ext cx="691515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Card c1 = new Card(“KD”);</a:t>
            </a:r>
          </a:p>
          <a:p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Card c2 = new Card(“6S”);</a:t>
            </a:r>
          </a:p>
          <a:p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Card c3 = new Card(“2C”);</a:t>
            </a:r>
          </a:p>
          <a:p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Card c4 = new Card(“6S”);</a:t>
            </a:r>
          </a:p>
          <a:p>
            <a:endParaRPr lang="en-US" sz="2400" dirty="0">
              <a:latin typeface="Courier New" pitchFamily="49" charset="0"/>
              <a:cs typeface="Courier New" pitchFamily="49" charset="0"/>
            </a:endParaRPr>
          </a:p>
          <a:p>
            <a:endParaRPr lang="en-US" sz="2400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c1.compareTo(c2)   </a:t>
            </a:r>
            <a:r>
              <a:rPr lang="en-US" sz="2400" dirty="0" smtClean="0">
                <a:latin typeface="Courier New" pitchFamily="49" charset="0"/>
                <a:cs typeface="Courier New" pitchFamily="49" charset="0"/>
                <a:sym typeface="Wingdings" pitchFamily="2" charset="2"/>
              </a:rPr>
              <a:t>   positive</a:t>
            </a:r>
          </a:p>
          <a:p>
            <a:r>
              <a:rPr lang="en-US" sz="2400" dirty="0" smtClean="0">
                <a:latin typeface="Courier New" pitchFamily="49" charset="0"/>
                <a:cs typeface="Courier New" pitchFamily="49" charset="0"/>
                <a:sym typeface="Wingdings" pitchFamily="2" charset="2"/>
              </a:rPr>
              <a:t>c3.compareTo(c4)      negative</a:t>
            </a:r>
          </a:p>
          <a:p>
            <a:r>
              <a:rPr lang="en-US" sz="2400" dirty="0" smtClean="0">
                <a:latin typeface="Courier New" pitchFamily="49" charset="0"/>
                <a:cs typeface="Courier New" pitchFamily="49" charset="0"/>
                <a:sym typeface="Wingdings" pitchFamily="2" charset="2"/>
              </a:rPr>
              <a:t>c2.compareTo(c4)      zero</a:t>
            </a:r>
          </a:p>
          <a:p>
            <a:r>
              <a:rPr lang="en-US" sz="2400" dirty="0" smtClean="0">
                <a:latin typeface="Courier New" pitchFamily="49" charset="0"/>
                <a:cs typeface="Courier New" pitchFamily="49" charset="0"/>
                <a:sym typeface="Wingdings" pitchFamily="2" charset="2"/>
              </a:rPr>
              <a:t>c3.compareTo(c1)      negative	</a:t>
            </a:r>
            <a:endParaRPr lang="en-US" sz="2400" dirty="0" smtClean="0">
              <a:latin typeface="Courier New" pitchFamily="49" charset="0"/>
              <a:cs typeface="Courier New" pitchFamily="49" charset="0"/>
            </a:endParaRP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491816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136073" y="1734005"/>
            <a:ext cx="57912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Card c1 = new Card(“KD”);</a:t>
            </a:r>
          </a:p>
          <a:p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Card c2 = new Card(“6S”);</a:t>
            </a:r>
          </a:p>
          <a:p>
            <a:endParaRPr lang="en-US" sz="2400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if( </a:t>
            </a:r>
            <a:r>
              <a:rPr lang="en-US" sz="24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c1.compareTo(c2)</a:t>
            </a:r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 )</a:t>
            </a:r>
          </a:p>
          <a:p>
            <a:r>
              <a:rPr lang="en-US" sz="2400" dirty="0" smtClean="0"/>
              <a:t>{</a:t>
            </a:r>
          </a:p>
          <a:p>
            <a:r>
              <a:rPr lang="en-US" sz="2400" dirty="0" smtClean="0"/>
              <a:t>…</a:t>
            </a:r>
            <a:endParaRPr lang="en-US" sz="2400" dirty="0"/>
          </a:p>
        </p:txBody>
      </p:sp>
      <p:sp>
        <p:nvSpPr>
          <p:cNvPr id="6" name="TextBox 5"/>
          <p:cNvSpPr txBox="1"/>
          <p:nvPr/>
        </p:nvSpPr>
        <p:spPr>
          <a:xfrm>
            <a:off x="4343400" y="4396032"/>
            <a:ext cx="3352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rgbClr val="FF0000"/>
                </a:solidFill>
              </a:rPr>
              <a:t>WRONG:  </a:t>
            </a:r>
            <a:r>
              <a:rPr lang="en-US" sz="2400" dirty="0" err="1" smtClean="0">
                <a:solidFill>
                  <a:srgbClr val="FF0000"/>
                </a:solidFill>
              </a:rPr>
              <a:t>compareTo</a:t>
            </a:r>
            <a:r>
              <a:rPr lang="en-US" sz="2400" dirty="0" smtClean="0">
                <a:solidFill>
                  <a:srgbClr val="FF0000"/>
                </a:solidFill>
              </a:rPr>
              <a:t> doesn’t return a </a:t>
            </a:r>
            <a:r>
              <a:rPr lang="en-US" sz="2400" dirty="0" err="1" smtClean="0">
                <a:solidFill>
                  <a:srgbClr val="FF0000"/>
                </a:solidFill>
              </a:rPr>
              <a:t>boolean</a:t>
            </a:r>
            <a:r>
              <a:rPr lang="en-US" sz="2400" dirty="0" smtClean="0">
                <a:solidFill>
                  <a:srgbClr val="FF0000"/>
                </a:solidFill>
              </a:rPr>
              <a:t>, it returns an </a:t>
            </a:r>
            <a:r>
              <a:rPr lang="en-US" sz="2400" dirty="0" err="1" smtClean="0">
                <a:solidFill>
                  <a:srgbClr val="FF0000"/>
                </a:solidFill>
              </a:rPr>
              <a:t>int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678932" y="331857"/>
            <a:ext cx="578613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smtClean="0"/>
              <a:t>How not to use </a:t>
            </a:r>
            <a:r>
              <a:rPr lang="en-US" sz="4000" dirty="0" err="1" smtClean="0"/>
              <a:t>compareTo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5658436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Compare the result with 0 to get the </a:t>
            </a:r>
            <a:r>
              <a:rPr lang="en-US" dirty="0" err="1" smtClean="0"/>
              <a:t>boolean</a:t>
            </a:r>
            <a:r>
              <a:rPr lang="en-US" dirty="0" smtClean="0"/>
              <a:t> you need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748145" y="2362200"/>
            <a:ext cx="754380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latin typeface="Courier New" pitchFamily="49" charset="0"/>
                <a:cs typeface="Courier New" pitchFamily="49" charset="0"/>
              </a:rPr>
              <a:t>Card c1 = new Card(“KD”);</a:t>
            </a:r>
          </a:p>
          <a:p>
            <a:r>
              <a:rPr lang="en-US" dirty="0" smtClean="0">
                <a:latin typeface="Courier New" pitchFamily="49" charset="0"/>
                <a:cs typeface="Courier New" pitchFamily="49" charset="0"/>
              </a:rPr>
              <a:t>Card c2 = new Card(“6S”);</a:t>
            </a:r>
          </a:p>
          <a:p>
            <a:endParaRPr lang="en-US" dirty="0">
              <a:latin typeface="Courier New" pitchFamily="49" charset="0"/>
              <a:cs typeface="Courier New" pitchFamily="49" charset="0"/>
            </a:endParaRPr>
          </a:p>
          <a:p>
            <a:r>
              <a:rPr lang="en-US" dirty="0" smtClean="0">
                <a:latin typeface="Courier New" pitchFamily="49" charset="0"/>
                <a:cs typeface="Courier New" pitchFamily="49" charset="0"/>
              </a:rPr>
              <a:t>if( 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c1.compareTo(c2) &gt; 0 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)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( “c1 is greater than c2”);</a:t>
            </a:r>
          </a:p>
          <a:p>
            <a:r>
              <a:rPr lang="en-US" dirty="0" smtClean="0">
                <a:latin typeface="Courier New" pitchFamily="49" charset="0"/>
                <a:cs typeface="Courier New" pitchFamily="49" charset="0"/>
              </a:rPr>
              <a:t>else if( 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c1.compareTo(c2) &lt; 0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 )</a:t>
            </a:r>
          </a:p>
          <a:p>
            <a:r>
              <a:rPr lang="en-US" dirty="0" smtClean="0"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( “c1 is less than c2”);</a:t>
            </a:r>
          </a:p>
          <a:p>
            <a:r>
              <a:rPr lang="en-US" dirty="0" smtClean="0">
                <a:latin typeface="Courier New" pitchFamily="49" charset="0"/>
                <a:cs typeface="Courier New" pitchFamily="49" charset="0"/>
              </a:rPr>
              <a:t>else</a:t>
            </a:r>
          </a:p>
          <a:p>
            <a:r>
              <a:rPr lang="en-US" dirty="0" smtClean="0"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( “c1 is equal to c2”);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51602" y="1733728"/>
            <a:ext cx="2863797" cy="120032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 smtClean="0"/>
              <a:t>compareTo’s</a:t>
            </a:r>
            <a:r>
              <a:rPr lang="en-US" dirty="0" smtClean="0"/>
              <a:t> rules:</a:t>
            </a:r>
          </a:p>
          <a:p>
            <a:r>
              <a:rPr lang="en-US" dirty="0" smtClean="0"/>
              <a:t>this &lt; parameter </a:t>
            </a:r>
            <a:r>
              <a:rPr lang="en-US" dirty="0" smtClean="0">
                <a:sym typeface="Wingdings" pitchFamily="2" charset="2"/>
              </a:rPr>
              <a:t> negative</a:t>
            </a:r>
          </a:p>
          <a:p>
            <a:r>
              <a:rPr lang="en-US" dirty="0" smtClean="0"/>
              <a:t>this &gt; parameter </a:t>
            </a:r>
            <a:r>
              <a:rPr lang="en-US" dirty="0" smtClean="0">
                <a:sym typeface="Wingdings" pitchFamily="2" charset="2"/>
              </a:rPr>
              <a:t> positive</a:t>
            </a:r>
          </a:p>
          <a:p>
            <a:r>
              <a:rPr lang="en-US" dirty="0" smtClean="0"/>
              <a:t>this == parameter </a:t>
            </a:r>
            <a:r>
              <a:rPr lang="en-US" dirty="0" smtClean="0">
                <a:sym typeface="Wingdings" pitchFamily="2" charset="2"/>
              </a:rPr>
              <a:t> 0</a:t>
            </a:r>
          </a:p>
        </p:txBody>
      </p:sp>
    </p:spTree>
    <p:extLst>
      <p:ext uri="{BB962C8B-B14F-4D97-AF65-F5344CB8AC3E}">
        <p14:creationId xmlns:p14="http://schemas.microsoft.com/office/powerpoint/2010/main" val="39205894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</TotalTime>
  <Words>536</Words>
  <Application>Microsoft Office PowerPoint</Application>
  <PresentationFormat>On-screen Show (4:3)</PresentationFormat>
  <Paragraphs>106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The compareTo method</vt:lpstr>
      <vt:lpstr>PowerPoint Presentation</vt:lpstr>
      <vt:lpstr>PowerPoint Presentation</vt:lpstr>
      <vt:lpstr>PowerPoint Presentation</vt:lpstr>
      <vt:lpstr>The compareTo method</vt:lpstr>
      <vt:lpstr>PowerPoint Presentation</vt:lpstr>
      <vt:lpstr>Alternative compareTo</vt:lpstr>
      <vt:lpstr>PowerPoint Presentation</vt:lpstr>
      <vt:lpstr>PowerPoint Presentation</vt:lpstr>
      <vt:lpstr>Compare the result with 0 to get the boolean you need</vt:lpstr>
    </vt:vector>
  </TitlesOfParts>
  <Company>San Diego Unified School District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compareTo method</dc:title>
  <dc:creator>Sacco Ian</dc:creator>
  <cp:lastModifiedBy>Sacco Ian</cp:lastModifiedBy>
  <cp:revision>10</cp:revision>
  <dcterms:created xsi:type="dcterms:W3CDTF">2012-11-27T14:10:46Z</dcterms:created>
  <dcterms:modified xsi:type="dcterms:W3CDTF">2012-11-27T19:06:46Z</dcterms:modified>
</cp:coreProperties>
</file>