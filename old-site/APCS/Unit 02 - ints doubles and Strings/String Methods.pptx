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  <p:sldId id="257" r:id="rId5"/>
    <p:sldId id="270" r:id="rId6"/>
    <p:sldId id="267" r:id="rId7"/>
    <p:sldId id="259" r:id="rId8"/>
    <p:sldId id="268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96" y="-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9/29/2014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97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9/29/2014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15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9/29/2014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97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9/29/2014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99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9/29/2014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8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9/29/2014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9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9/29/2014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01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9/29/2014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02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9/29/2014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75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9/29/2014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9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9/29/2014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0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09825-8C84-45C8-9D91-3ABAB3246F8C}" type="datetimeFigureOut">
              <a:rPr lang="en-US" smtClean="0"/>
              <a:t>9/29/2014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67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String Methods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3429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Inside </a:t>
            </a:r>
            <a:r>
              <a:rPr lang="en-US" dirty="0" smtClean="0"/>
              <a:t>a String, each character gets assigned an </a:t>
            </a:r>
            <a:r>
              <a:rPr lang="en-US" b="1" dirty="0" smtClean="0"/>
              <a:t>index</a:t>
            </a:r>
            <a:r>
              <a:rPr lang="en-US" dirty="0" smtClean="0"/>
              <a:t> that tells its location in the String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Spaces count as a character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756893"/>
              </p:ext>
            </p:extLst>
          </p:nvPr>
        </p:nvGraphicFramePr>
        <p:xfrm>
          <a:off x="914403" y="3016086"/>
          <a:ext cx="6781797" cy="793914"/>
        </p:xfrm>
        <a:graphic>
          <a:graphicData uri="http://schemas.openxmlformats.org/drawingml/2006/table">
            <a:tbl>
              <a:tblPr firstRow="1" bandRow="1"/>
              <a:tblGrid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</a:tblGrid>
              <a:tr h="41512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H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e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W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r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67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9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771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Strings are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ints</a:t>
            </a:r>
            <a:r>
              <a:rPr lang="en-US" dirty="0" smtClean="0"/>
              <a:t> and doubles are very basic data that can be stored very directly in binary.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Strings are a more complicated type of data.  They can hold many characters, and they also have personalized methods that tell you information about them.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This type of data is called an </a:t>
            </a:r>
            <a:r>
              <a:rPr lang="en-US" b="1" dirty="0" smtClean="0"/>
              <a:t>Object</a:t>
            </a:r>
            <a:r>
              <a:rPr lang="en-US" dirty="0" smtClean="0"/>
              <a:t>, and it’s a big deal in this class.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41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length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37159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Returns the number of characters that the String has in it</a:t>
            </a:r>
          </a:p>
          <a:p>
            <a:r>
              <a:rPr lang="en-US" dirty="0" smtClean="0"/>
              <a:t>Spaces count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3200400"/>
            <a:ext cx="876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strLen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str.length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sz="24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“The String has ”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+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strLen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24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 characters”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2578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Output:  The String has 5 characters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8087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54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Object methods rely on the information inside of the object in order to perform a task.</a:t>
            </a:r>
          </a:p>
          <a:p>
            <a:r>
              <a:rPr lang="en-US" dirty="0" smtClean="0"/>
              <a:t>This means that you must call methods using the </a:t>
            </a:r>
            <a:r>
              <a:rPr lang="en-US" b="1" dirty="0" smtClean="0"/>
              <a:t>variable</a:t>
            </a:r>
            <a:r>
              <a:rPr lang="en-US" dirty="0"/>
              <a:t> </a:t>
            </a:r>
            <a:r>
              <a:rPr lang="en-US" b="1" dirty="0" smtClean="0"/>
              <a:t>name</a:t>
            </a:r>
            <a:r>
              <a:rPr lang="en-US" dirty="0" smtClean="0"/>
              <a:t> instead of the String class directly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3505200"/>
            <a:ext cx="54864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first = “Mr.”;</a:t>
            </a: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last =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“Sacco”;</a:t>
            </a:r>
          </a:p>
          <a:p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strLen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first.length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();</a:t>
            </a:r>
            <a:endParaRPr lang="en-US" sz="24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000" y="5105400"/>
            <a:ext cx="54864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itchFamily="49" charset="0"/>
                <a:cs typeface="Courier New" pitchFamily="49" charset="0"/>
              </a:rPr>
              <a:t>String first = “Mr.”;</a:t>
            </a: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last =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“Sacco”;</a:t>
            </a:r>
          </a:p>
          <a:p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strLen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String.length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();</a:t>
            </a:r>
            <a:endParaRPr lang="en-US" sz="24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48400" y="3581400"/>
            <a:ext cx="265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Right!  The variable knows what letters it contains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248399" y="5029200"/>
            <a:ext cx="26594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Wrong!  Without the variable name, how do we know which String we’re talking about.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10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length </a:t>
            </a:r>
            <a:r>
              <a:rPr lang="en-US" dirty="0" err="1" smtClean="0"/>
              <a:t>vs</a:t>
            </a:r>
            <a:r>
              <a:rPr lang="en-US" dirty="0" smtClean="0"/>
              <a:t> index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400"/>
          </a:xfrm>
        </p:spPr>
        <p:txBody>
          <a:bodyPr/>
          <a:lstStyle/>
          <a:p>
            <a:r>
              <a:rPr lang="en-US" dirty="0" smtClean="0"/>
              <a:t>The last index of a String is always </a:t>
            </a:r>
            <a:r>
              <a:rPr lang="en-US" b="1" dirty="0" smtClean="0"/>
              <a:t>one less</a:t>
            </a:r>
            <a:r>
              <a:rPr lang="en-US" dirty="0" smtClean="0"/>
              <a:t> than the length of the String</a:t>
            </a:r>
          </a:p>
          <a:p>
            <a:r>
              <a:rPr lang="en-US" dirty="0" smtClean="0"/>
              <a:t>This is because the index starts at 0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489145"/>
              </p:ext>
            </p:extLst>
          </p:nvPr>
        </p:nvGraphicFramePr>
        <p:xfrm>
          <a:off x="914400" y="3636818"/>
          <a:ext cx="6781797" cy="975360"/>
        </p:xfrm>
        <a:graphic>
          <a:graphicData uri="http://schemas.openxmlformats.org/drawingml/2006/table">
            <a:tbl>
              <a:tblPr firstRow="1" bandRow="1"/>
              <a:tblGrid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</a:tblGrid>
              <a:tr h="41512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H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e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W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r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67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9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" y="4963180"/>
            <a:ext cx="8184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The length of the String is </a:t>
            </a:r>
            <a:r>
              <a:rPr lang="en-US" sz="2800" b="1" dirty="0" smtClean="0">
                <a:solidFill>
                  <a:srgbClr val="FF0000"/>
                </a:solidFill>
              </a:rPr>
              <a:t>11</a:t>
            </a:r>
            <a:r>
              <a:rPr lang="en-US" sz="2800" dirty="0" smtClean="0"/>
              <a:t>, but the last index is at </a:t>
            </a:r>
            <a:r>
              <a:rPr lang="en-US" sz="2800" b="1" dirty="0" smtClean="0">
                <a:solidFill>
                  <a:srgbClr val="FF0000"/>
                </a:solidFill>
              </a:rPr>
              <a:t>10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2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indexOf</a:t>
            </a:r>
            <a:r>
              <a:rPr lang="en-US" dirty="0" smtClean="0"/>
              <a:t>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Takes in a String as a parameter </a:t>
            </a:r>
          </a:p>
          <a:p>
            <a:r>
              <a:rPr lang="en-US" dirty="0" smtClean="0"/>
              <a:t>Returns the </a:t>
            </a:r>
            <a:r>
              <a:rPr lang="en-US" b="1" dirty="0" smtClean="0"/>
              <a:t>index</a:t>
            </a:r>
            <a:r>
              <a:rPr lang="en-US" dirty="0" smtClean="0"/>
              <a:t> of the first time that the parameter appears in the String 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3459540"/>
            <a:ext cx="876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cLoc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str.indexOf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(“c”);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sz="24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“The c is at index”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+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cLoc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2578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Output:  The c is at index 2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631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indexOf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908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The parameter of </a:t>
            </a:r>
            <a:r>
              <a:rPr lang="en-US" sz="2800" dirty="0" err="1" smtClean="0"/>
              <a:t>indexOf</a:t>
            </a:r>
            <a:r>
              <a:rPr lang="en-US" sz="2800" dirty="0" smtClean="0"/>
              <a:t> may be longer than one character</a:t>
            </a:r>
          </a:p>
          <a:p>
            <a:r>
              <a:rPr lang="en-US" sz="2800" dirty="0" smtClean="0"/>
              <a:t>Since </a:t>
            </a:r>
            <a:r>
              <a:rPr lang="en-US" sz="2800" dirty="0" err="1" smtClean="0"/>
              <a:t>indexOf</a:t>
            </a:r>
            <a:r>
              <a:rPr lang="en-US" sz="2800" dirty="0" smtClean="0"/>
              <a:t> can only return one </a:t>
            </a:r>
            <a:r>
              <a:rPr lang="en-US" sz="2800" dirty="0" err="1" smtClean="0"/>
              <a:t>int</a:t>
            </a:r>
            <a:r>
              <a:rPr lang="en-US" sz="2800" dirty="0" smtClean="0"/>
              <a:t>, it returns the index of the first character in the String</a:t>
            </a:r>
          </a:p>
          <a:p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3810000"/>
            <a:ext cx="876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“Sacco rocks”;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ockLoc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str.indexOf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ock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”);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“The </a:t>
            </a:r>
            <a:r>
              <a:rPr lang="en-US" sz="2000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ock</a:t>
            </a:r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is at index”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+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ockLoc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19200" y="52578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Output:  The </a:t>
            </a:r>
            <a:r>
              <a:rPr lang="en-US" sz="2800" dirty="0" err="1" smtClean="0"/>
              <a:t>ock</a:t>
            </a:r>
            <a:r>
              <a:rPr lang="en-US" sz="2800" dirty="0" smtClean="0"/>
              <a:t> is at index 7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1143000" y="6172200"/>
            <a:ext cx="601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Note: The first o is skipped over because it’s not followed by </a:t>
            </a:r>
            <a:r>
              <a:rPr lang="en-US" dirty="0" err="1" smtClean="0"/>
              <a:t>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958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</a:t>
            </a:r>
            <a:r>
              <a:rPr lang="en-US" dirty="0" err="1" smtClean="0"/>
              <a:t>indexOf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79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If the String is not found, a -1 is automatically returned</a:t>
            </a:r>
          </a:p>
          <a:p>
            <a:r>
              <a:rPr lang="en-US" dirty="0" smtClean="0"/>
              <a:t>This is known as a </a:t>
            </a:r>
            <a:r>
              <a:rPr lang="en-US" b="1" dirty="0" smtClean="0"/>
              <a:t>sentinel value</a:t>
            </a:r>
            <a:r>
              <a:rPr lang="en-US" dirty="0" smtClean="0"/>
              <a:t>, because it is a specific number that means the String is not found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3886200"/>
            <a:ext cx="876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hLoc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str.indexOf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(“h”);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sz="24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“The h is at index”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+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hLoc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542038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Output:  The h is at index -1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8872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substring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57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Returns a String that is a portion of the original String</a:t>
            </a:r>
          </a:p>
          <a:p>
            <a:r>
              <a:rPr lang="en-US" dirty="0" smtClean="0"/>
              <a:t>Takes in two parameters. </a:t>
            </a:r>
          </a:p>
          <a:p>
            <a:r>
              <a:rPr lang="en-US" dirty="0" smtClean="0"/>
              <a:t>The String returned starts at the index of the first parameter, and goes UP TO but does not include the second parameter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3581400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small=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str.substring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(1,4);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 small 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1054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Output:  </a:t>
            </a:r>
            <a:r>
              <a:rPr lang="en-US" sz="2800" dirty="0" err="1" smtClean="0"/>
              <a:t>acc</a:t>
            </a:r>
            <a:endParaRPr lang="en-US" sz="28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380423"/>
              </p:ext>
            </p:extLst>
          </p:nvPr>
        </p:nvGraphicFramePr>
        <p:xfrm>
          <a:off x="1371600" y="5791200"/>
          <a:ext cx="6096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S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o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2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67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Alternate substring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5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It is also possible to only pass one parameter into the substring method.</a:t>
            </a:r>
          </a:p>
          <a:p>
            <a:r>
              <a:rPr lang="en-US" dirty="0" smtClean="0"/>
              <a:t>The String returned will start at that  index and continues to the end of the String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3657600"/>
            <a:ext cx="876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small=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str.substring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(2);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 small 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19178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Output:  </a:t>
            </a:r>
            <a:r>
              <a:rPr lang="en-US" sz="2800" dirty="0" err="1" smtClean="0"/>
              <a:t>cco</a:t>
            </a:r>
            <a:endParaRPr lang="en-US" sz="28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107275"/>
              </p:ext>
            </p:extLst>
          </p:nvPr>
        </p:nvGraphicFramePr>
        <p:xfrm>
          <a:off x="1371600" y="5715000"/>
          <a:ext cx="6096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S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o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73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indexOutOfBounds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499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Be careful when you put parameters into substring.</a:t>
            </a:r>
          </a:p>
          <a:p>
            <a:r>
              <a:rPr lang="en-US" dirty="0" smtClean="0"/>
              <a:t>If you ask for an index that the String doesn’t have, it will crash your program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3505200"/>
            <a:ext cx="8763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small=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str.substring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(2,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9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 small 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03938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CRASH: </a:t>
            </a:r>
            <a:r>
              <a:rPr lang="en-US" sz="2800" dirty="0" err="1" smtClean="0">
                <a:solidFill>
                  <a:srgbClr val="FF0000"/>
                </a:solidFill>
              </a:rPr>
              <a:t>IndexOutOfBoundsException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95600" y="5715000"/>
            <a:ext cx="58761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If you get this message, check that your boundaries  make sense with the String you’ve been given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4660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toUpperCase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24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Returns a new String with all the same characters, but in ALL CAPS</a:t>
            </a:r>
          </a:p>
          <a:p>
            <a:r>
              <a:rPr lang="en-US" dirty="0" smtClean="0"/>
              <a:t>Does NOT change the original String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5420380"/>
            <a:ext cx="5867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Output:  The new String is SACCO</a:t>
            </a:r>
          </a:p>
          <a:p>
            <a:r>
              <a:rPr lang="en-US" sz="2800" dirty="0"/>
              <a:t>	 </a:t>
            </a:r>
            <a:r>
              <a:rPr lang="en-US" sz="2800" dirty="0" smtClean="0"/>
              <a:t>    The original String is Sacco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228600" y="3200400"/>
            <a:ext cx="87630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400" smtClean="0">
                <a:latin typeface="Courier New" pitchFamily="49" charset="0"/>
                <a:cs typeface="Courier New" pitchFamily="49" charset="0"/>
              </a:rPr>
              <a:t>String upper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str.toUpperCase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“The new String is ”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+upper);</a:t>
            </a:r>
          </a:p>
          <a:p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“The </a:t>
            </a:r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original String </a:t>
            </a:r>
            <a:r>
              <a:rPr lang="en-US" sz="20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is ”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30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toLowerCase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same as </a:t>
            </a:r>
            <a:r>
              <a:rPr lang="en-US" dirty="0" err="1" smtClean="0"/>
              <a:t>toUpperCase</a:t>
            </a:r>
            <a:r>
              <a:rPr lang="en-US" dirty="0" smtClean="0"/>
              <a:t>, but lowercase instead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2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3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end of a String can be tricky to get because it isn’t always at the same index</a:t>
            </a:r>
          </a:p>
          <a:p>
            <a:r>
              <a:rPr lang="en-US" dirty="0" smtClean="0"/>
              <a:t>The length method can be used to help you find it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3581400"/>
            <a:ext cx="8305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strLen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str.length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();  </a:t>
            </a:r>
            <a:r>
              <a:rPr lang="en-US" sz="2000" b="1" dirty="0" smtClean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//returns a 5 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lastLetter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str.substring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(strLen-1,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strLen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lastLetter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004284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Output:  o</a:t>
            </a:r>
            <a:endParaRPr lang="en-US" sz="28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441665"/>
              </p:ext>
            </p:extLst>
          </p:nvPr>
        </p:nvGraphicFramePr>
        <p:xfrm>
          <a:off x="1371600" y="5715000"/>
          <a:ext cx="6096000" cy="828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S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o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87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851</Words>
  <Application>Microsoft Office PowerPoint</Application>
  <PresentationFormat>On-screen Show (4:3)</PresentationFormat>
  <Paragraphs>170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String Methods</vt:lpstr>
      <vt:lpstr>Strings</vt:lpstr>
      <vt:lpstr>Strings are Objects</vt:lpstr>
      <vt:lpstr>The length method</vt:lpstr>
      <vt:lpstr>Object Methods</vt:lpstr>
      <vt:lpstr>length vs index</vt:lpstr>
      <vt:lpstr>The indexOf method</vt:lpstr>
      <vt:lpstr>indexOf</vt:lpstr>
      <vt:lpstr>More indexOf</vt:lpstr>
      <vt:lpstr>The substring method</vt:lpstr>
      <vt:lpstr>Alternate substring</vt:lpstr>
      <vt:lpstr>indexOutOfBounds</vt:lpstr>
      <vt:lpstr>toUpperCase</vt:lpstr>
      <vt:lpstr>toLowerCase</vt:lpstr>
      <vt:lpstr>Combining methods</vt:lpstr>
    </vt:vector>
  </TitlesOfParts>
  <Company>San Diego Unified School District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Methods</dc:title>
  <dc:creator>Sacco Ian</dc:creator>
  <cp:lastModifiedBy>Ian Sacco</cp:lastModifiedBy>
  <cp:revision>17</cp:revision>
  <dcterms:created xsi:type="dcterms:W3CDTF">2012-10-24T02:41:43Z</dcterms:created>
  <dcterms:modified xsi:type="dcterms:W3CDTF">2014-09-29T13:46:44Z</dcterms:modified>
</cp:coreProperties>
</file>