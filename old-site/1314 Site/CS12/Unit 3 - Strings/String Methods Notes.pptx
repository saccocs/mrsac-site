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10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1970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115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97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899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289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690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701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002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575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295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70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B09825-8C84-45C8-9D91-3ABAB3246F8C}" type="datetimeFigureOut">
              <a:rPr lang="en-US" smtClean="0"/>
              <a:t>10/2/2013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46B940-4AE2-4700-A4CD-6852FBFEFE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667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String Methods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57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Strings are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They have instance fields and </a:t>
            </a:r>
            <a:r>
              <a:rPr lang="en-US" b="1" dirty="0" smtClean="0"/>
              <a:t>methods</a:t>
            </a:r>
          </a:p>
          <a:p>
            <a:r>
              <a:rPr lang="en-US" dirty="0" smtClean="0"/>
              <a:t>Inside a String, each character gets assigned an </a:t>
            </a:r>
            <a:r>
              <a:rPr lang="en-US" b="1" dirty="0" smtClean="0"/>
              <a:t>index</a:t>
            </a:r>
            <a:r>
              <a:rPr lang="en-US" dirty="0" smtClean="0"/>
              <a:t> that tells its location in the String</a:t>
            </a:r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Spaces count as a character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178797"/>
              </p:ext>
            </p:extLst>
          </p:nvPr>
        </p:nvGraphicFramePr>
        <p:xfrm>
          <a:off x="914400" y="3429000"/>
          <a:ext cx="6781797" cy="793914"/>
        </p:xfrm>
        <a:graphic>
          <a:graphicData uri="http://schemas.openxmlformats.org/drawingml/2006/table">
            <a:tbl>
              <a:tblPr firstRow="1" bandRow="1"/>
              <a:tblGrid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</a:tblGrid>
              <a:tr h="41512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W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67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7771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length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3715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Returns the number of characters that the String has in it</a:t>
            </a:r>
          </a:p>
          <a:p>
            <a:r>
              <a:rPr lang="en-US" dirty="0" smtClean="0"/>
              <a:t>Spaces count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3200400"/>
            <a:ext cx="876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str.length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24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“The String has ”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+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+ </a:t>
            </a:r>
            <a:r>
              <a:rPr lang="en-US" sz="24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 characters”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2578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The String has 5 characters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80878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length </a:t>
            </a:r>
            <a:r>
              <a:rPr lang="en-US" dirty="0" err="1" smtClean="0"/>
              <a:t>vs</a:t>
            </a:r>
            <a:r>
              <a:rPr lang="en-US" dirty="0" smtClean="0"/>
              <a:t> index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676400"/>
          </a:xfrm>
        </p:spPr>
        <p:txBody>
          <a:bodyPr/>
          <a:lstStyle/>
          <a:p>
            <a:r>
              <a:rPr lang="en-US" dirty="0" smtClean="0"/>
              <a:t>The last index of a String is always </a:t>
            </a:r>
            <a:r>
              <a:rPr lang="en-US" b="1" dirty="0" smtClean="0"/>
              <a:t>one less</a:t>
            </a:r>
            <a:r>
              <a:rPr lang="en-US" dirty="0" smtClean="0"/>
              <a:t> than the length of the String</a:t>
            </a:r>
          </a:p>
          <a:p>
            <a:r>
              <a:rPr lang="en-US" dirty="0" smtClean="0"/>
              <a:t>This is because the index starts at 0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489145"/>
              </p:ext>
            </p:extLst>
          </p:nvPr>
        </p:nvGraphicFramePr>
        <p:xfrm>
          <a:off x="914400" y="3636818"/>
          <a:ext cx="6781797" cy="975360"/>
        </p:xfrm>
        <a:graphic>
          <a:graphicData uri="http://schemas.openxmlformats.org/drawingml/2006/table">
            <a:tbl>
              <a:tblPr firstRow="1" bandRow="1"/>
              <a:tblGrid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  <a:gridCol w="616527"/>
              </a:tblGrid>
              <a:tr h="41512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H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e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W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o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r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l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 smtClean="0">
                          <a:latin typeface="Courier New" pitchFamily="49" charset="0"/>
                          <a:cs typeface="Courier New" pitchFamily="49" charset="0"/>
                        </a:rPr>
                        <a:t>d</a:t>
                      </a:r>
                      <a:endParaRPr lang="en-US" sz="2400" dirty="0">
                        <a:latin typeface="Courier New" pitchFamily="49" charset="0"/>
                        <a:cs typeface="Courier New" pitchFamily="49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33671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en-US" sz="2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04800" y="4963180"/>
            <a:ext cx="81846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The length of the String is </a:t>
            </a:r>
            <a:r>
              <a:rPr lang="en-US" sz="2800" b="1" dirty="0" smtClean="0">
                <a:solidFill>
                  <a:srgbClr val="FF0000"/>
                </a:solidFill>
              </a:rPr>
              <a:t>11</a:t>
            </a:r>
            <a:r>
              <a:rPr lang="en-US" sz="2800" dirty="0" smtClean="0"/>
              <a:t>, but the last index is at </a:t>
            </a:r>
            <a:r>
              <a:rPr lang="en-US" sz="2800" b="1" dirty="0" smtClean="0">
                <a:solidFill>
                  <a:srgbClr val="FF0000"/>
                </a:solidFill>
              </a:rPr>
              <a:t>10</a:t>
            </a:r>
            <a:endParaRPr 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72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</a:t>
            </a:r>
            <a:r>
              <a:rPr lang="en-US" dirty="0" err="1" smtClean="0"/>
              <a:t>indexOf</a:t>
            </a:r>
            <a:r>
              <a:rPr lang="en-US" dirty="0" smtClean="0"/>
              <a:t>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Takes in a String as a parameter </a:t>
            </a:r>
          </a:p>
          <a:p>
            <a:r>
              <a:rPr lang="en-US" dirty="0" smtClean="0"/>
              <a:t>Returns the </a:t>
            </a:r>
            <a:r>
              <a:rPr lang="en-US" b="1" dirty="0" smtClean="0"/>
              <a:t>index</a:t>
            </a:r>
            <a:r>
              <a:rPr lang="en-US" dirty="0" smtClean="0"/>
              <a:t> of the first time that the parameter appears in the String </a:t>
            </a:r>
            <a:endParaRPr lang="en-US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28600" y="3459540"/>
            <a:ext cx="876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cLoc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str.indexOf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(“c”);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24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“The c is at index”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+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cLoc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2578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The c is at index 2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631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</a:t>
            </a:r>
            <a:r>
              <a:rPr lang="en-US" dirty="0" err="1" smtClean="0"/>
              <a:t>indexOf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209799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If the String is not found, a -1 is automatically returned</a:t>
            </a:r>
          </a:p>
          <a:p>
            <a:r>
              <a:rPr lang="en-US" dirty="0" smtClean="0"/>
              <a:t>This is known as a </a:t>
            </a:r>
            <a:r>
              <a:rPr lang="en-US" b="1" dirty="0" smtClean="0"/>
              <a:t>sentinel value</a:t>
            </a:r>
            <a:r>
              <a:rPr lang="en-US" dirty="0" smtClean="0"/>
              <a:t>, because it is a specific number that means the String is not found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33400" y="3886200"/>
            <a:ext cx="876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hLoc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str.indexOf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(“h”);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</a:t>
            </a:r>
            <a:r>
              <a:rPr lang="en-US" sz="24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“The h is at index”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+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hLoc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542038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The h is at index -1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8872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substring method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0574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Returns a String that is a portion of the original String</a:t>
            </a:r>
          </a:p>
          <a:p>
            <a:r>
              <a:rPr lang="en-US" dirty="0" smtClean="0"/>
              <a:t>Takes in two parameters. </a:t>
            </a:r>
          </a:p>
          <a:p>
            <a:r>
              <a:rPr lang="en-US" dirty="0" smtClean="0"/>
              <a:t>The String returned starts at the index of the first parameter, and goes UP TO but does not include the second parameter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3581400"/>
            <a:ext cx="8077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small=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str.substring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(1,4);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small 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10540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</a:t>
            </a:r>
            <a:r>
              <a:rPr lang="en-US" sz="2800" dirty="0" err="1" smtClean="0"/>
              <a:t>acc</a:t>
            </a:r>
            <a:endParaRPr lang="en-US" sz="28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380423"/>
              </p:ext>
            </p:extLst>
          </p:nvPr>
        </p:nvGraphicFramePr>
        <p:xfrm>
          <a:off x="1371600" y="5791200"/>
          <a:ext cx="6096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2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2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8678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Alternate substring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5000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It is also possible to only pass one parameter into the substring method.</a:t>
            </a:r>
          </a:p>
          <a:p>
            <a:r>
              <a:rPr lang="en-US" dirty="0" smtClean="0"/>
              <a:t>The String returned will start at that  index and continues to the end of the String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3657600"/>
            <a:ext cx="8763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small=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str.substring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(2);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small 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19178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</a:t>
            </a:r>
            <a:r>
              <a:rPr lang="en-US" sz="2800" dirty="0" err="1" smtClean="0"/>
              <a:t>cco</a:t>
            </a:r>
            <a:endParaRPr lang="en-US" sz="28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9107275"/>
              </p:ext>
            </p:extLst>
          </p:nvPr>
        </p:nvGraphicFramePr>
        <p:xfrm>
          <a:off x="1371600" y="5715000"/>
          <a:ext cx="6096000" cy="914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24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731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indexOutOfBounds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904999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Be careful when you put parameters into substring.</a:t>
            </a:r>
          </a:p>
          <a:p>
            <a:r>
              <a:rPr lang="en-US" dirty="0" smtClean="0"/>
              <a:t>If you ask for an index that the String doesn’t have, it will crash your program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33400" y="3505200"/>
            <a:ext cx="876300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small=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str.substring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(2,</a:t>
            </a:r>
            <a:r>
              <a:rPr lang="en-US" sz="28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9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 small 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039380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CRASH: </a:t>
            </a:r>
            <a:r>
              <a:rPr lang="en-US" sz="2800" dirty="0" err="1" smtClean="0">
                <a:solidFill>
                  <a:srgbClr val="FF0000"/>
                </a:solidFill>
              </a:rPr>
              <a:t>IndexOutOfBoundsException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895600" y="5715000"/>
            <a:ext cx="58761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/>
              <a:t>If you get this message, check that your boundaries  make sense with the String you’ve been given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46602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toUpperCase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240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Returns a new String with all the same characters, but in ALL CAPS</a:t>
            </a:r>
          </a:p>
          <a:p>
            <a:r>
              <a:rPr lang="en-US" dirty="0" smtClean="0"/>
              <a:t>Does NOT change the original String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838200" y="5420380"/>
            <a:ext cx="5867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The new String is SACCO</a:t>
            </a:r>
          </a:p>
          <a:p>
            <a:r>
              <a:rPr lang="en-US" sz="2800" dirty="0"/>
              <a:t>	 </a:t>
            </a:r>
            <a:r>
              <a:rPr lang="en-US" sz="2800" dirty="0" smtClean="0"/>
              <a:t>    The original String is Sacco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228600" y="3200400"/>
            <a:ext cx="8763000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400" smtClean="0">
                <a:latin typeface="Courier New" pitchFamily="49" charset="0"/>
                <a:cs typeface="Courier New" pitchFamily="49" charset="0"/>
              </a:rPr>
              <a:t>String upper 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str.toUpperCase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“The new String is ”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 +upper);</a:t>
            </a:r>
          </a:p>
          <a:p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0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“The </a:t>
            </a:r>
            <a:r>
              <a:rPr lang="en-US" sz="2000" dirty="0" smtClean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original String </a:t>
            </a:r>
            <a:r>
              <a:rPr lang="en-US" sz="2000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is ”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+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000" dirty="0">
              <a:latin typeface="Courier New" pitchFamily="49" charset="0"/>
              <a:cs typeface="Courier New" pitchFamily="49" charset="0"/>
            </a:endParaRPr>
          </a:p>
          <a:p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308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toLowerCase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same as </a:t>
            </a:r>
            <a:r>
              <a:rPr lang="en-US" dirty="0" err="1" smtClean="0"/>
              <a:t>toUpperCase</a:t>
            </a:r>
            <a:r>
              <a:rPr lang="en-US" dirty="0" smtClean="0"/>
              <a:t>, but lowercase instead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42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Combining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336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The end of a String can be tricky to get because it isn’t always at the same index</a:t>
            </a:r>
          </a:p>
          <a:p>
            <a:r>
              <a:rPr lang="en-US" dirty="0" smtClean="0"/>
              <a:t>The length method can be used to help you find it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3581400"/>
            <a:ext cx="8305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“Sacco”;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str.length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();  </a:t>
            </a:r>
            <a:r>
              <a:rPr lang="en-US" sz="2000" b="1" dirty="0" smtClean="0">
                <a:solidFill>
                  <a:schemeClr val="bg1">
                    <a:lumMod val="75000"/>
                  </a:schemeClr>
                </a:solidFill>
                <a:latin typeface="Courier New" pitchFamily="49" charset="0"/>
                <a:cs typeface="Courier New" pitchFamily="49" charset="0"/>
              </a:rPr>
              <a:t>//returns a 5 </a:t>
            </a:r>
          </a:p>
          <a:p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String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lastLetter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=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str.substring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(strLen-1, </a:t>
            </a:r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strLen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);</a:t>
            </a:r>
          </a:p>
          <a:p>
            <a:r>
              <a:rPr lang="en-US" sz="2000" dirty="0" err="1" smtClean="0">
                <a:latin typeface="Courier New" pitchFamily="49" charset="0"/>
                <a:cs typeface="Courier New" pitchFamily="49" charset="0"/>
              </a:rPr>
              <a:t>System.out.println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2400" dirty="0" err="1" smtClean="0">
                <a:latin typeface="Courier New" pitchFamily="49" charset="0"/>
                <a:cs typeface="Courier New" pitchFamily="49" charset="0"/>
              </a:rPr>
              <a:t>lastLetter</a:t>
            </a:r>
            <a:r>
              <a:rPr lang="en-US" sz="2400" dirty="0" smtClean="0">
                <a:latin typeface="Courier New" pitchFamily="49" charset="0"/>
                <a:cs typeface="Courier New" pitchFamily="49" charset="0"/>
              </a:rPr>
              <a:t>);</a:t>
            </a:r>
            <a:endParaRPr lang="en-US" sz="2400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5004284"/>
            <a:ext cx="5867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Output:  o</a:t>
            </a:r>
            <a:endParaRPr lang="en-US" sz="28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3441665"/>
              </p:ext>
            </p:extLst>
          </p:nvPr>
        </p:nvGraphicFramePr>
        <p:xfrm>
          <a:off x="1371600" y="5715000"/>
          <a:ext cx="6096000" cy="828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S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a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c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400" kern="1200" dirty="0" smtClean="0">
                          <a:solidFill>
                            <a:schemeClr val="tx1"/>
                          </a:solidFill>
                          <a:latin typeface="Courier New" pitchFamily="49" charset="0"/>
                          <a:ea typeface="+mn-ea"/>
                          <a:cs typeface="Courier New" pitchFamily="49" charset="0"/>
                        </a:rPr>
                        <a:t>o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Courier New" pitchFamily="49" charset="0"/>
                        <a:ea typeface="+mn-ea"/>
                        <a:cs typeface="Courier New" pitchFamily="49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877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620</Words>
  <Application>Microsoft Office PowerPoint</Application>
  <PresentationFormat>On-screen Show (4:3)</PresentationFormat>
  <Paragraphs>146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String Methods</vt:lpstr>
      <vt:lpstr>Strings are objects</vt:lpstr>
      <vt:lpstr>The length method</vt:lpstr>
      <vt:lpstr>length vs index</vt:lpstr>
      <vt:lpstr>The indexOf method</vt:lpstr>
      <vt:lpstr>More indexOf</vt:lpstr>
      <vt:lpstr>The substring method</vt:lpstr>
      <vt:lpstr>Alternate substring</vt:lpstr>
      <vt:lpstr>indexOutOfBounds</vt:lpstr>
      <vt:lpstr>toUpperCase</vt:lpstr>
      <vt:lpstr>toLowerCase</vt:lpstr>
      <vt:lpstr>Combining methods</vt:lpstr>
    </vt:vector>
  </TitlesOfParts>
  <Company>San Diego Unified School District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String Methods</dc:title>
  <dc:creator>Sacco Ian</dc:creator>
  <cp:lastModifiedBy>Sacco Ian</cp:lastModifiedBy>
  <cp:revision>12</cp:revision>
  <dcterms:created xsi:type="dcterms:W3CDTF">2012-10-24T02:41:43Z</dcterms:created>
  <dcterms:modified xsi:type="dcterms:W3CDTF">2013-10-02T16:55:00Z</dcterms:modified>
</cp:coreProperties>
</file>